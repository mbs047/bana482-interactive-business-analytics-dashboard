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NPS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In-Store</c:v>
                  </c:pt>
                  <c:pt idx="1">
                    <c:v>Mobile App</c:v>
                  </c:pt>
                  <c:pt idx="2">
                    <c:v>Online</c:v>
                  </c:pt>
                  <c:pt idx="3">
                    <c:v>Phone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32.67</c:v>
                </c:pt>
                <c:pt idx="1">
                  <c:v>26.59</c:v>
                </c:pt>
                <c:pt idx="2">
                  <c:v>21.42</c:v>
                </c:pt>
                <c:pt idx="3">
                  <c:v>11.28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A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Complaint rate (%)</c:v>
                </c:pt>
              </c:strCache>
            </c:strRef>
          </c:tx>
          <c:spPr>
            <a:solidFill>
              <a:srgbClr val="F2A6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A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Electronics</c:v>
                  </c:pt>
                  <c:pt idx="1">
                    <c:v>Beauty</c:v>
                  </c:pt>
                  <c:pt idx="2">
                    <c:v>Apparel</c:v>
                  </c:pt>
                  <c:pt idx="3">
                    <c:v>Sporting Goods</c:v>
                  </c:pt>
                  <c:pt idx="4">
                    <c:v>Home Goods</c:v>
                  </c:pt>
                  <c:pt idx="5">
                    <c:v>Groceries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40.9</c:v>
                </c:pt>
                <c:pt idx="1">
                  <c:v>37.1</c:v>
                </c:pt>
                <c:pt idx="2">
                  <c:v>26.3</c:v>
                </c:pt>
                <c:pt idx="3">
                  <c:v>21.4</c:v>
                </c:pt>
                <c:pt idx="4">
                  <c:v>18.8</c:v>
                </c:pt>
                <c:pt idx="5">
                  <c:v>11.1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A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482  -  Capstone in Analytics for Business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Interactive Business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ChatGPT and Excel Data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4526280"/>
            <a:ext cx="2743200" cy="0"/>
          </a:xfrm>
          <a:prstGeom prst="line">
            <a:avLst/>
          </a:prstGeom>
          <a:noFill/>
          <a:ln w="31750">
            <a:solidFill>
              <a:srgbClr val="F2A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709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  |   Spring 2026   |   29 April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7   |   180 transactions   |   R Shiny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client asked for, who uses it, and what “good” looks like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05200" cy="3931920"/>
          </a:xfrm>
          <a:prstGeom prst="rect">
            <a:avLst/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350520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295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Mid-sized regional retailer wants managers and analysts to inspect mixed-type Excel data without writing code.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28160" y="1691640"/>
            <a:ext cx="3505200" cy="3931920"/>
          </a:xfrm>
          <a:prstGeom prst="rect">
            <a:avLst/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8160" y="1691640"/>
            <a:ext cx="350520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2480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602480" y="269748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02480" y="3246120"/>
            <a:ext cx="295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workbook, see descriptive stats, frequency tables, and grouped summaries on demand - and trust the numbers.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07680" y="1691640"/>
            <a:ext cx="3505200" cy="3931920"/>
          </a:xfrm>
          <a:prstGeom prst="rect">
            <a:avLst/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7680" y="1691640"/>
            <a:ext cx="350520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2000" y="20116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382000" y="269748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82000" y="3246120"/>
            <a:ext cx="295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ChatGPT as a co-pilot, but verify every statistic, every line of code, and every interpretation before shipping.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482  |  Case Study 7  |  Mohammed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STAT482_sample_dashboard_dataset.xlsx  -  Retail_CX_Data sheet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103120" cy="12801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1691640"/>
            <a:ext cx="2103120" cy="12801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7830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74320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1691640"/>
            <a:ext cx="2103120" cy="12801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7830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02920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vars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0" y="1691640"/>
            <a:ext cx="2103120" cy="12801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17830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731520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01200" y="1691640"/>
            <a:ext cx="2103120" cy="12801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0" y="17830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60120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cells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the workbook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" y="3657600"/>
            <a:ext cx="5760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Quantitative: Order_Value, Discount_Rate, Wait_Time, Delivery_Days, Items, Satisfaction (1-5), NPS (-100 to 100)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Qualitative: Region, Channel, Product_Category, Customer_Segment, Loyalty_Tier, Payment_Method, Complaint_Theme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flags: Complaint_Flag, Return_Flag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/ date / free text: Transaction_ID, Order_Date, Manager_Notes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pattern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3657600"/>
          <a:ext cx="5029200" cy="237744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  <a:gridCol w="23774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Wait_Time_Min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 (30%)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- online has 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Complaint_Theme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 (74%)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Tied to Complaint_Flag =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Loyalty_Tier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(1.7%)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as explicit (missing)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Manager_Notes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(3.3%)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text, flagged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482  |  Case Study 7  |  Mohammed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controls + 7-tab main panel, built on Shiny + readxl + dplyr + ggplot2 + DT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291840" cy="4572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28346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upload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 selector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header-row detect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- Region, Channel,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Segment, Tier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Type-detection helper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0" y="1691640"/>
            <a:ext cx="2468880" cy="1417320"/>
          </a:xfrm>
          <a:prstGeom prst="rect">
            <a:avLst/>
          </a:prstGeom>
          <a:solidFill>
            <a:srgbClr val="E8F1F5"/>
          </a:solidFill>
          <a:ln w="6350">
            <a:solidFill>
              <a:srgbClr val="D5DE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1691640"/>
            <a:ext cx="73152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type table, missing-values plot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12280" y="1691640"/>
            <a:ext cx="2468880" cy="1417320"/>
          </a:xfrm>
          <a:prstGeom prst="rect">
            <a:avLst/>
          </a:prstGeom>
          <a:solidFill>
            <a:srgbClr val="E8F1F5"/>
          </a:solidFill>
          <a:ln w="6350">
            <a:solidFill>
              <a:srgbClr val="D5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12280" y="1691640"/>
            <a:ext cx="73152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Summary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9516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n, missing, mean, median, SD, Q1-Q3, min, max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509760" y="1691640"/>
            <a:ext cx="2468880" cy="1417320"/>
          </a:xfrm>
          <a:prstGeom prst="rect">
            <a:avLst/>
          </a:prstGeom>
          <a:solidFill>
            <a:srgbClr val="E8F1F5"/>
          </a:solidFill>
          <a:ln w="6350">
            <a:solidFill>
              <a:srgbClr val="D5DE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09760" y="1691640"/>
            <a:ext cx="73152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Summary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9264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table for any qualitative var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0" y="3337560"/>
            <a:ext cx="2468880" cy="1417320"/>
          </a:xfrm>
          <a:prstGeom prst="rect">
            <a:avLst/>
          </a:prstGeom>
          <a:solidFill>
            <a:srgbClr val="E8F1F5"/>
          </a:solidFill>
          <a:ln w="6350">
            <a:solidFill>
              <a:srgbClr val="D5DE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0" y="3337560"/>
            <a:ext cx="73152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Summary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97680" y="3840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variable summarised by category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12280" y="3337560"/>
            <a:ext cx="2468880" cy="1417320"/>
          </a:xfrm>
          <a:prstGeom prst="rect">
            <a:avLst/>
          </a:prstGeom>
          <a:solidFill>
            <a:srgbClr val="E8F1F5"/>
          </a:solidFill>
          <a:ln w="6350">
            <a:solidFill>
              <a:srgbClr val="D5DE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12280" y="3337560"/>
            <a:ext cx="73152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3840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or bar chart, optional grouping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509760" y="3337560"/>
            <a:ext cx="2468880" cy="1417320"/>
          </a:xfrm>
          <a:prstGeom prst="rect">
            <a:avLst/>
          </a:prstGeom>
          <a:solidFill>
            <a:srgbClr val="E8F1F5"/>
          </a:solidFill>
          <a:ln w="6350">
            <a:solidFill>
              <a:srgbClr val="D5DE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09760" y="3337560"/>
            <a:ext cx="73152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9264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92640" y="3840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Searchable, column-filterable preview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0" y="4983480"/>
            <a:ext cx="2468880" cy="1417320"/>
          </a:xfrm>
          <a:prstGeom prst="rect">
            <a:avLst/>
          </a:prstGeom>
          <a:solidFill>
            <a:srgbClr val="E8F1F5"/>
          </a:solidFill>
          <a:ln w="6350">
            <a:solidFill>
              <a:srgbClr val="D5DE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4983480"/>
            <a:ext cx="73152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0" y="5120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297680" y="5486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features, ChatGPT-use disclosure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482  |  Case Study 7  |  Mohammed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snapshot of the seven numeric variables (n = 180)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108960"/>
        </p:xfrm>
        <a:graphic>
          <a:graphicData uri="http://schemas.openxmlformats.org/drawingml/2006/table">
            <a:tbl>
              <a:tblPr/>
              <a:tblGrid>
                <a:gridCol w="2286000"/>
                <a:gridCol w="822960"/>
                <a:gridCol w="1005840"/>
                <a:gridCol w="1371600"/>
                <a:gridCol w="1371600"/>
                <a:gridCol w="1188720"/>
                <a:gridCol w="1280160"/>
                <a:gridCol w="1737360"/>
              </a:tblGrid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Items_Purchased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Order_Value_USD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116.71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117.48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250.98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Discount_Rate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Wait_Time_Min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Delivery_Days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Satisfaction_Score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NPS_Score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120640"/>
            <a:ext cx="109728" cy="118872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2120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says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55321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value averages USD 117 with wide spread (SD ~ 47).  </a:t>
            </a:r>
            <a:pPr indent="0" marL="0">
              <a:buNone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mean 25 but median 38 - long negative tail.  </a:t>
            </a:r>
            <a:pPr indent="0" marL="0">
              <a:buNone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skews positive (median 4) but ~ 1/3 of customers sit at 3 or below.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482  |  Case Study 7  |  Mohammed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Story: Phone Drags NPS Down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Net Promoter Score by purchase channel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71323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55280" y="1691640"/>
            <a:ext cx="3657600" cy="13716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0" y="17830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21-pt gap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955280" y="24231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vs. Phone NPS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955280" y="3246120"/>
            <a:ext cx="3657600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0" y="3337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25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795528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sample is small - watch noise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955280" y="4800600"/>
            <a:ext cx="3657600" cy="1463040"/>
          </a:xfrm>
          <a:prstGeom prst="rect">
            <a:avLst/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955280" y="4800600"/>
            <a:ext cx="109728" cy="146304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83880" y="4937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ACTION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83880" y="5285232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30 phone calls and check training, queue length, and escalation handling.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482  |  Case Study 7  |  Mohammed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Complaints Concentrate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rate (%) by product category - portfolio average is 26%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71323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95528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55280" y="2103120"/>
            <a:ext cx="3657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and Beauty are far above the 26% portfolio rate.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Groceries is unusually clean - a useful counter-example.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n's are small (16-42) so treat the gap, not the exact rate, as the signal.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pair next 30 days of complaints with returns data to separate defects from expectation mismatch.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482  |  Case Study 7  |  Mohammed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Trust, Then Verify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dashboard number was reproduced by a second method before this report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1051560"/>
          </a:xfrm>
          <a:prstGeom prst="rect">
            <a:avLst/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29968"/>
            <a:ext cx="548640" cy="54864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94767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pivot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28600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Recreated Region x Order_Value and Channel x NPS as Excel pivots. Match to two decimal places.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99232"/>
            <a:ext cx="11064240" cy="1051560"/>
          </a:xfrm>
          <a:prstGeom prst="rect">
            <a:avLst/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46120"/>
            <a:ext cx="548640" cy="54864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316382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 summary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50215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 summary() in base R on the numeric block. Identical n, mean, median, SD, min, max.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15384"/>
            <a:ext cx="11064240" cy="1051560"/>
          </a:xfrm>
          <a:prstGeom prst="rect">
            <a:avLst/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462272"/>
            <a:ext cx="548640" cy="54864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62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379976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718304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zero-row subsets (Southeast x Phone). App returns N = 0 cleanly, no crash.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431536"/>
            <a:ext cx="11064240" cy="1051560"/>
          </a:xfrm>
          <a:prstGeom prst="rect">
            <a:avLst/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678424"/>
            <a:ext cx="548640" cy="54864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6784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559612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audit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54480" y="5934456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na.rm = TRUE applied consistently. Frequency tables show NAs as an explicit category.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482  |  Case Study 7  |  Mohammed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ChatGPT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a junior collaborator - never as the analyst of record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32120" cy="4617720"/>
          </a:xfrm>
          <a:prstGeom prst="rect">
            <a:avLst/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553212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556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5074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Brainstormed the 7-tab Shiny layout before any code was written.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the auto header-row detector after we described the title-row problem.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showing medians alongside means for grouped summaries on small subgroups.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Speeded up boilerplate around DataTable rendering and DT options.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532120" cy="4617720"/>
          </a:xfrm>
          <a:prstGeom prst="rect">
            <a:avLst/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691640"/>
            <a:ext cx="5532120" cy="457200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7556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 /  CORRECTED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331720"/>
            <a:ext cx="5074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Mean-imputation of Wait_Time_Min - we recognised the missingness as structural, not random.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regression-based “loyalty score” - out of scope for a descriptive dashboard, would have given false rigour.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table() without useNA = “ifany” - silently dropped 3 missing Loyalty_Tier rows. Caught and fixed.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Discipline: every stat re-computed in Excel or base R; every helper function read line-by-line.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482  |  Case Study 7  |  Mohammed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concrete moves the manager can take this quarter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066544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Phone channel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1700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gap of 21 points vs. In-Store. Sample calls and review queue / escalation.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98064" y="1463040"/>
            <a:ext cx="2066544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80944" y="169164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980944" y="2423160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Electronics &amp; Beauty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80944" y="3474720"/>
            <a:ext cx="1700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rates ~40% vs. 26% portfolio average. Pair with returns data for 30 days.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47488" y="1463040"/>
            <a:ext cx="2066544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0368" y="169164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230368" y="2423160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 Loyalty_Tier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30368" y="3474720"/>
            <a:ext cx="1700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unlabelled rows = small but real CRM data-entry gap. One-time review of recent sign-ups.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96912" y="1463040"/>
            <a:ext cx="2066544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9792" y="169164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479792" y="2423160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time-series tab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79792" y="3474720"/>
            <a:ext cx="1700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6-12 months of Order_Date are available, watch for drift in NPS and complaint mix.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46336" y="1463040"/>
            <a:ext cx="2066544" cy="3931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9216" y="1691640"/>
            <a:ext cx="1700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729216" y="2423160"/>
            <a:ext cx="1700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for weekly review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729216" y="3474720"/>
            <a:ext cx="1700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enough for one Shiny Server. 15-min weekly check with regional analyst keeps it useful.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760720"/>
            <a:ext cx="2286000" cy="0"/>
          </a:xfrm>
          <a:prstGeom prst="line">
            <a:avLst/>
          </a:prstGeom>
          <a:noFill/>
          <a:ln w="25400">
            <a:solidFill>
              <a:srgbClr val="F2A6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-  questions welcome.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  |   STAT 482   |   Case Study 7   |   29 April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 482 Case Study 7 - Retail CX Dashboard</dc:title>
  <dc:subject>PptxGenJS Presentation</dc:subject>
  <dc:creator>Mohammed</dc:creator>
  <cp:lastModifiedBy>Mohammed</cp:lastModifiedBy>
  <cp:revision>1</cp:revision>
  <dcterms:created xsi:type="dcterms:W3CDTF">2026-04-29T06:53:37Z</dcterms:created>
  <dcterms:modified xsi:type="dcterms:W3CDTF">2026-04-29T06:53:37Z</dcterms:modified>
</cp:coreProperties>
</file>